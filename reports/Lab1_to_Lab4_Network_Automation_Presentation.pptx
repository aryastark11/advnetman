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31520"/>
            <a:ext cx="1054577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9601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CSCI-5840 ADVANCED NETWORK MANAGEMENT &amp; AUTOMATION</a:t>
            </a:r>
          </a:p>
          <a:p>
            <a:pPr>
              <a:spcAft>
                <a:spcPts val="600"/>
              </a:spcAft>
              <a:defRPr sz="2600" b="1">
                <a:solidFill>
                  <a:srgbClr val="38BDF8"/>
                </a:solidFill>
              </a:defRPr>
            </a:pPr>
            <a:r>
              <a:t>Enterprise Network Automation &amp; Observability Platform</a:t>
            </a:r>
          </a:p>
          <a:p>
            <a:pPr>
              <a:spcAft>
                <a:spcPts val="2200"/>
              </a:spcAft>
              <a:defRPr sz="1300">
                <a:solidFill>
                  <a:srgbClr val="94A3B8"/>
                </a:solidFill>
              </a:defRPr>
            </a:pPr>
            <a:r>
              <a:t>End-to-End Infrastructure-as-Code, Real-Time Telemetry Data Lake &amp; Network Source of Truth (Labs 1–4)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926080"/>
            <a:ext cx="310896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3063240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Lab 1: Fabric &amp; IPAM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Arista cEOS-lab Migration</a:t>
            </a:r>
            <a:br/>
            <a:r>
              <a:t>• OSPFv2/v3, BGP &amp; RIPv2</a:t>
            </a:r>
            <a:br/>
            <a:r>
              <a:t>• Dual-Stack DHCPv4/v6 IPAM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79" y="2926080"/>
            <a:ext cx="310896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3063240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4D399"/>
                </a:solidFill>
              </a:defRPr>
            </a:pPr>
            <a:r>
              <a:t>Lab 2 &amp; 3: Telemetry NOC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InfluxDB 7-Day Data Lake</a:t>
            </a:r>
            <a:br/>
            <a:r>
              <a:t>• Telegraf SNMP &amp; gRPC Ingest</a:t>
            </a:r>
            <a:br/>
            <a:r>
              <a:t>• Grafana NOC &amp; NetworkX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926080"/>
            <a:ext cx="310896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3063240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BBF24"/>
                </a:solidFill>
              </a:defRPr>
            </a:pPr>
            <a:r>
              <a:t>Lab 4 &amp; 5: NSoT &amp; IaC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Django NSoT Web Portal</a:t>
            </a:r>
            <a:br/>
            <a:r>
              <a:t>• Live eAPI Config Pull &amp; Diff</a:t>
            </a:r>
            <a:br/>
            <a:r>
              <a:t>• Multi-Vendor Jinja2 (4 OSs)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303520"/>
            <a:ext cx="960120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Author: Kavyashree Mahadevaiah (aryastark11)   |   Repository: github.com/aryastark11/advnetman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</a:defRPr>
            </a:pPr>
            <a:r>
              <a:t>LAB 1 • TOPOLOGY, PROTOCOLS &amp; IP ADDRESS MANAGEMENT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Lab 1: Multi-Vendor Network Virtualization &amp; IPAM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Automated Network Management &amp; Source of Truth Framework  |  Slide 2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38BDF8"/>
                </a:solidFill>
              </a:rPr>
              <a:t>Arista cEOS Fabric Migration:</a:t>
            </a:r>
            <a:r>
              <a:rPr sz="1000">
                <a:solidFill>
                  <a:srgbClr val="F1F5F9"/>
                </a:solidFill>
              </a:rPr>
              <a:t> Replaced baseline Linux FRR containers with production-grade Arista cEOS (v4.33.10M) across all 5 routers (R1–R5) and 4 switches (S1–S4).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34D399"/>
                </a:solidFill>
              </a:rPr>
              <a:t>Hierarchical Core/Edge Design:</a:t>
            </a:r>
            <a:r>
              <a:rPr sz="1000">
                <a:solidFill>
                  <a:srgbClr val="F1F5F9"/>
                </a:solidFill>
              </a:rPr>
              <a:t> Dual-chassis Distribution layer (R1-R2), ASBR Core (R3-R4), PE WAN Gateway (R5), Access switches (S1-S2), and Core switches (S3-S4).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BBF24"/>
                </a:solidFill>
              </a:rPr>
              <a:t>Dynamic Routing Protocols:</a:t>
            </a:r>
            <a:r>
              <a:rPr sz="1000">
                <a:solidFill>
                  <a:srgbClr val="F1F5F9"/>
                </a:solidFill>
              </a:rPr>
              <a:t> OSPFv2/OSPFv3 Area 0 core backbone, iBGP AS 65001 mesh, eBGP AS 65001 -&gt; AS 65002 / AS 65100 peering, and RIPv2 on distribution subinterfaces.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C084FC"/>
                </a:solidFill>
              </a:rPr>
              <a:t>Comprehensive Dual-Stack IPAM:</a:t>
            </a:r>
            <a:r>
              <a:rPr sz="1000">
                <a:solidFill>
                  <a:srgbClr val="F1F5F9"/>
                </a:solidFill>
              </a:rPr>
              <a:t> Structured IPv4/IPv6 IPAM scheme (ipam.csv), dual-stack DHCPv4/DHCPv6 server pools on R2, and SLAAC autoconfiguration for hosts H1–H4.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etwork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496793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</a:defRPr>
            </a:pPr>
            <a:r>
              <a:t>LAB 2 • CENTRALIZED OBSERVABILITY, DATA LAKE &amp; BACKUP RETENTION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Lab 2: NMAS Telemetry Engine &amp; InfluxDB Data Lake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Automated Network Management &amp; Source of Truth Framework  |  Slide 3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38BDF8"/>
                </a:solidFill>
              </a:rPr>
              <a:t>Centralized NMAS Station:</a:t>
            </a:r>
            <a:r>
              <a:rPr sz="1000">
                <a:solidFill>
                  <a:srgbClr val="F1F5F9"/>
                </a:solidFill>
              </a:rPr>
              <a:t> Dedicated Network Management &amp; Automation Station node (172.20.20.100) orchestrating data collection, health checks, and backup pipelines.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34D399"/>
                </a:solidFill>
              </a:rPr>
              <a:t>InfluxDB Time-Series Data Lake:</a:t>
            </a:r>
            <a:r>
              <a:rPr sz="1000">
                <a:solidFill>
                  <a:srgbClr val="F1F5F9"/>
                </a:solidFill>
              </a:rPr>
              <a:t> High-throughput InfluxDB v1.8 data lake on port 8086 with automated 7-day retention policy (autogen) and automated cleanup of records older than 7 days.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BBF24"/>
                </a:solidFill>
              </a:rPr>
              <a:t>Telegraf Collector Pipeline:</a:t>
            </a:r>
            <a:r>
              <a:rPr sz="1000">
                <a:solidFill>
                  <a:srgbClr val="F1F5F9"/>
                </a:solidFill>
              </a:rPr>
              <a:t> Automated SNMP polling across 9 cEOS switches/routers (CPU load, memory, interface in/out octets, drop counters) and gRPC streaming telemetry ingest.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C084FC"/>
                </a:solidFill>
              </a:rPr>
              <a:t>Isolated Secondary Backup Node:</a:t>
            </a:r>
            <a:r>
              <a:rPr sz="1000">
                <a:solidFill>
                  <a:srgbClr val="F1F5F9"/>
                </a:solidFill>
              </a:rPr>
              <a:t> Standalone backup server (172.20.20.150) receiving automated data lake snapshots, strictly isolated and accessible exclusively by NMAS.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3_datalak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496793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</a:defRPr>
            </a:pPr>
            <a:r>
              <a:t>LAB 3 • NETWORK OPERATIONS CENTER (NOC) &amp; NETWORKX TRAFFIC SIMULATION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Lab 3: Real-Time Grafana NOC &amp; Dynamic Traffic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Automated Network Management &amp; Source of Truth Framework  |  Slide 4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38BDF8"/>
                </a:solidFill>
              </a:rPr>
              <a:t>Grafana NOC Master Dashboard:</a:t>
            </a:r>
            <a:r>
              <a:rPr sz="1000">
                <a:solidFill>
                  <a:srgbClr val="F1F5F9"/>
                </a:solidFill>
              </a:rPr>
              <a:t> Operational on http://localhost:3000/d/nmas-noc-master. Visualizes live SNMP CPU gauge dials, interface throughput (bps), packet error rates, and ICMP ping latency.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34D399"/>
                </a:solidFill>
              </a:rPr>
              <a:t>Dynamic Traffic Flow Simulation:</a:t>
            </a:r>
            <a:r>
              <a:rPr sz="1000">
                <a:solidFill>
                  <a:srgbClr val="F1F5F9"/>
                </a:solidFill>
              </a:rPr>
              <a:t> Python NetworkX + Matplotlib dynamic simulator rendering animated multi-tier traffic flows (GIF / HTML) with color-coded link utilization thresholds (Green &lt;50%, Yellow 50-80%, Red &gt;80%).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BBF24"/>
                </a:solidFill>
              </a:rPr>
              <a:t>gRPC Streaming Telemetry:</a:t>
            </a:r>
            <a:r>
              <a:rPr sz="1000">
                <a:solidFill>
                  <a:srgbClr val="F1F5F9"/>
                </a:solidFill>
              </a:rPr>
              <a:t> Continuous sub-second metric streaming directly into the data lake, providing instantaneous fault detection over traditional polling.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C084FC"/>
                </a:solidFill>
              </a:rPr>
              <a:t>Bidirectional Navigation:</a:t>
            </a:r>
            <a:r>
              <a:rPr sz="1000">
                <a:solidFill>
                  <a:srgbClr val="F1F5F9"/>
                </a:solidFill>
              </a:rPr>
              <a:t> Embedded top navigation banner and dashboard link returning directly to the Django NSoT portal on localhost:8000.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affic_flow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496793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</a:defRPr>
            </a:pPr>
            <a:r>
              <a:t>LAB 4 &amp; 5 (PART 1) • DJANGO NSOT PORTAL, LIVE EAPI PULL &amp; GOLDEN CONFIGS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Lab 4 &amp; 5: Django Network Source of Truth (NSoT) Web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Automated Network Management &amp; Source of Truth Framework  |  Slide 5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38BDF8"/>
                </a:solidFill>
              </a:rPr>
              <a:t>Full-Stack Django Portal (Port 8000):</a:t>
            </a:r>
            <a:r>
              <a:rPr sz="1000">
                <a:solidFill>
                  <a:srgbClr val="F1F5F9"/>
                </a:solidFill>
              </a:rPr>
              <a:t> Single Source of Truth managing 16 network nodes with KPI cards, role filters (Router, Switch, Host, NMAS, Server), and search.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34D399"/>
                </a:solidFill>
              </a:rPr>
              <a:t>Live eAPI Configuration Pull:</a:t>
            </a:r>
            <a:r>
              <a:rPr sz="1000">
                <a:solidFill>
                  <a:srgbClr val="F1F5F9"/>
                </a:solidFill>
              </a:rPr>
              <a:t> Real-time Arista JSON-RPC eAPI client pulling live running configurations directly from physical/container nodes with batch 'Pull All' capability.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BBF24"/>
                </a:solidFill>
              </a:rPr>
              <a:t>Dynamic Device Provisioning Form:</a:t>
            </a:r>
            <a:r>
              <a:rPr sz="1000">
                <a:solidFill>
                  <a:srgbClr val="F1F5F9"/>
                </a:solidFill>
              </a:rPr>
              <a:t> Interactive onboarding with vendor profiles, IPAM fields, router routing protocols (OSPF, BGP ASN, Router-ID), switch VLANs, and dual file uploads (.cfg &amp; .j2).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C084FC"/>
                </a:solidFill>
              </a:rPr>
              <a:t>Golden Configuration Archive &amp; Diff:</a:t>
            </a:r>
            <a:r>
              <a:rPr sz="1000">
                <a:solidFill>
                  <a:srgbClr val="F1F5F9"/>
                </a:solidFill>
              </a:rPr>
              <a:t> Timestamped version snapshots (vYYYYMMDD_HHMMSS) stored in SQLite DB and filesystem (golden_configs/) with in-browser Unified Diff comparator.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5_nso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496793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</a:defRPr>
            </a:pPr>
            <a:r>
              <a:t>MULTI-VENDOR EXTRA CREDIT • ARISTA, CISCO NX-OS/XRV, SONIC &amp; CI/CD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Multi-Vendor IaC Templates, Git CI/CD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Automated Network Management &amp; Source of Truth Framework  |  Slide 6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38BDF8"/>
                </a:solidFill>
              </a:rPr>
              <a:t>Hierarchical Jinja2 Templates (Extra Credit):</a:t>
            </a:r>
            <a:r>
              <a:rPr sz="1000">
                <a:solidFill>
                  <a:srgbClr val="F1F5F9"/>
                </a:solidFill>
              </a:rPr>
              <a:t> 13 multi-vendor templates across 4 platforms (Arista cEOS, Cisco NX-OS 9000v, Cisco IOS-XRv 9000, SONiC VS) for all 5 network tiers.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34D399"/>
                </a:solidFill>
              </a:rPr>
              <a:t>Decoupled YAML Data Modeling:</a:t>
            </a:r>
            <a:r>
              <a:rPr sz="1000">
                <a:solidFill>
                  <a:srgbClr val="F1F5F9"/>
                </a:solidFill>
              </a:rPr>
              <a:t> 16 standalone data models in data_models/ separating network business logic from syntax, enabling cross-vendor portability.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BBF24"/>
                </a:solidFill>
              </a:rPr>
              <a:t>Git CI/CD Version Control:</a:t>
            </a:r>
            <a:r>
              <a:rPr sz="1000">
                <a:solidFill>
                  <a:srgbClr val="F1F5F9"/>
                </a:solidFill>
              </a:rPr>
              <a:t> Production-ready repository live on GitHub (github.com/aryastark11/advnetman) on branch main with automated 6/6 test verification suite.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C084FC"/>
                </a:solidFill>
              </a:rPr>
              <a:t>Future Roadmap:</a:t>
            </a:r>
            <a:r>
              <a:rPr sz="1000">
                <a:solidFill>
                  <a:srgbClr val="F1F5F9"/>
                </a:solidFill>
              </a:rPr>
              <a:t> Next phases: Closed-loop self-healing automation, automated pre-change validation with Batfish, and gNMI telemetry streaming.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6_multivendo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4967935" cy="4480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